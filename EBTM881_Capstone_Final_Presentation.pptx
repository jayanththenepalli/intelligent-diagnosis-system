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  <a:latin typeface="Calibri"/>
              </a:defRPr>
            </a:pPr>
            <a:r>
              <a:t>MEDIWISE AI</a:t>
            </a:r>
          </a:p>
          <a:p>
            <a:pPr algn="ctr">
              <a:spcAft>
                <a:spcPts val="1400"/>
              </a:spcAft>
              <a:defRPr sz="1800">
                <a:solidFill>
                  <a:srgbClr val="3B82F6"/>
                </a:solidFill>
                <a:latin typeface="Calibri"/>
              </a:defRPr>
            </a:pPr>
            <a:r>
              <a:t>An Intelligent Clinical Diagnosis Portal for Triage and Lesion Classification Under Uncertainty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Presenter: Jayanth Thenepalle | EBTM 881 Capstone Project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Advisor: Dr. Faculty Supervisor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Calibri"/>
              </a:defRPr>
            </a:pPr>
            <a:r>
              <a:t>1. Introduction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Clinical Access Bottlenecks: Administrative delays frequently delay preliminary medical triage screenings, risking patient health.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Uncertainty Constraints: Symptom assessments often deal with sparse or incomplete client input variables.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System Decoupling: Serving models centrally on a secure Python server prevents IP exposure and client resource fatigue.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Diagnostic Modalities: Implements both a tabular symptom checker and image-based dermoscopic cancer lesion classifications.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Calibri"/>
              </a:defRPr>
            </a:pPr>
            <a:r>
              <a:t>2. 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Stateless API Infrastructure: Design a horizontally scalable backend server capable of handling parallel client requests.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High-Precision Classifier: Train and validate neural network architectures capable of triaging medical parameters.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Cloud Audit Logging: Integrate automated database tracking to log session diagnostics statelessly.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Production Quality Engineering: Implement modern CORS security middleware, Docker containerization, and automated CI/CD deployments.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Calibri"/>
              </a:defRPr>
            </a:pPr>
            <a:r>
              <a:t>3. Literature Review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286000"/>
                <a:gridCol w="2286000"/>
              </a:tblGrid>
              <a:tr h="69494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Author (Year)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MediWise Connection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Tschandl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HAM10000 dataset collection.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10k pigmented lesion scans.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Extended via Transfer Learning MobileNetV2 CNN.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Sandler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MobileNetV2 inverted residuals.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Optimizes edge parameter footprint.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Reduces model footprint in cloud server to ~340MB.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Esteva (2017)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Deep CNN lesion scanning.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Deep ML matches professional clinicians.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Deploys a stateless, web-accessible scanner portal.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Chen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CDSS using relational databases.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DB locks bottleneck concurrent runs.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</a:defRPr>
                      </a:pPr>
                      <a:r>
                        <a:t>Implements asynchronous Motor client, removing blocks.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Calibri"/>
              </a:defRPr>
            </a:pPr>
            <a:r>
              <a:t>4. Clinical Workflow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Interactive Triage Path: Patients input symptom lists or upload lesion images via a responsive client dashboard.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FastAPI Server Validation: Validates incoming request payloads using strict Pydantic schemas.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Model Triage Execution: Dispatches payloads to local ANN or CNN instances cached in server memory.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Asynchronous Cloud Logging: Motor driver schedules MongoDB insertions without blocking the client response thread.</a:t>
            </a:r>
          </a:p>
        </p:txBody>
      </p:sp>
      <p:pic>
        <p:nvPicPr>
          <p:cNvPr id="4" name="Picture 3" descr="Clinica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6274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Calibri"/>
              </a:defRPr>
            </a:pPr>
            <a:r>
              <a:t>5. Three-Tier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Presentation (Vercel): React.js SPA utilizing custom CSS tokens, EKG waves, and radial confidence dials.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Service (Render): Stateless FastAPI ASGI web app serving model instances cached dynamically in RAM.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Persistence (MongoDB Atlas): Schema-less cloud replica set collection logging diagnostic session data asynchronously.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9024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Calibri"/>
              </a:defRPr>
            </a:pPr>
            <a:r>
              <a:t>6. System Integration Workflow (DFD)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HTTPS Client Dispatch: React form triggers Axios HTTP POST requests conveying symptom vectors or image FormData.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FastAPI Router Middleware: Enforces CORS constraints, validates models, and processes predictions.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Model Memory Load: Caches network weights during startup to run calculations entirely in RAM.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Non-blocking Persistence: Motor schedules insert_one() tasks concurrently before sending JSON predictions back.</a:t>
            </a:r>
          </a:p>
        </p:txBody>
      </p:sp>
      <p:pic>
        <p:nvPicPr>
          <p:cNvPr id="4" name="Picture 3" descr="System_Integration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60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Calibri"/>
              </a:defRPr>
            </a:pPr>
            <a:r>
              <a:t>7. Comparative Model Performance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1188720"/>
                <a:gridCol w="1188720"/>
                <a:gridCol w="128016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Decision Tree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92.30%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92.45%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92.30%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92.31%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Random Forest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96.50%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96.60%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96.50%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96.52%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Artificial 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98.42%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98.44%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98.42%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98.42%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MobileNetV2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Lesion Scans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89.50%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88.90%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89.50%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88.70%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Calibri"/>
              </a:defRPr>
            </a:pPr>
            <a:r>
              <a:t>8. Baseline Classifier Evaluation</a:t>
            </a:r>
          </a:p>
        </p:txBody>
      </p:sp>
      <p:pic>
        <p:nvPicPr>
          <p:cNvPr id="3" name="Picture 2" descr="Decision_Tree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84048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Decision Tree Baseline (Accuracy: 92.30%)</a:t>
            </a:r>
          </a:p>
        </p:txBody>
      </p:sp>
      <p:pic>
        <p:nvPicPr>
          <p:cNvPr id="5" name="Picture 4" descr="Random_Fores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80160"/>
            <a:ext cx="384048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6320" y="43891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Random Forest Ensemble Baseline (Accuracy: 96.50%)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Calibri"/>
              </a:defRPr>
            </a:pPr>
            <a:r>
              <a:t>9. Proposed Symptom Predictor ANN</a:t>
            </a:r>
          </a:p>
        </p:txBody>
      </p:sp>
      <p:pic>
        <p:nvPicPr>
          <p:cNvPr id="3" name="Picture 2" descr="AN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84048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ANN Confusion Matrix (Accuracy: 98.42%)</a:t>
            </a:r>
          </a:p>
        </p:txBody>
      </p:sp>
      <p:pic>
        <p:nvPicPr>
          <p:cNvPr id="5" name="Picture 4" descr="ANN_Training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80160"/>
            <a:ext cx="3840480" cy="16609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6320" y="43891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ANN Loss &amp; Accuracy Training History Curves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Calibri"/>
              </a:defRPr>
            </a:pPr>
            <a:r>
              <a:t>10. Proposed Skin Lesion CNN</a:t>
            </a:r>
          </a:p>
        </p:txBody>
      </p:sp>
      <p:pic>
        <p:nvPicPr>
          <p:cNvPr id="3" name="Picture 2" descr="CN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84048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CNN Confusion Matrix (Accuracy: 89.50%)</a:t>
            </a:r>
          </a:p>
        </p:txBody>
      </p:sp>
      <p:pic>
        <p:nvPicPr>
          <p:cNvPr id="5" name="Picture 4" descr="CNN_Training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80160"/>
            <a:ext cx="3840480" cy="16609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6320" y="43891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CNN Loss &amp; Accuracy Training Curves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Calibri"/>
              </a:defRPr>
            </a:pPr>
            <a:r>
              <a:t>11. Software Engineering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Specialist Routing logic: Custom algorithms parsing diagnostic classifications to assign patients to appropriate specialists.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Print-Media CSS referral exporter: Hides navigation panels, generating clean clinical referral letters.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Asynchronous Database Client: Leverages the motor driver to coordinate connection queues asynchronously.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Dockerized footprint optimization: Isolates tensorflow-cpu in multi-stage builds, reducing image size from &gt;3GB to ~450MB.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Calibri"/>
              </a:defRPr>
            </a:pPr>
            <a:r>
              <a:t>12. Production Deployments &amp;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Vite Frontend Client (Vercel): Global Edge Network serving React code with SSL active (load times &lt; 200ms).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FastAPI Backend API (Render): Stateless docker container online with memory consumption stabilized at ~340MB.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MongoDB Atlas cloud: Active connection replica set writing diagnostic session details with timestamps.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Low Inference Latency: Average response delays measured at 85ms for ANN symptom check and 120ms for CNN scans.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Calibri"/>
              </a:defRPr>
            </a:pPr>
            <a:r>
              <a:t>13.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Conclusion: Successful design, integration, and cloud deployment of an intelligent diagnostic suite resolving clinical uncertainty.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Future Work - Horizontal Scaling: Introduce Celery distributed worker tasks for deep neural scans under heavier traffic load.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Future Work - Active Integrations: Bind model outputs directly into FHIR clinical database structures.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Future Work - Explainable AI: Integrate Grad-CAM heatmaps showing clinicians exactly which image regions prompted predictions.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